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023360" cy="5079492"/>
          </a:xfrm>
          <a:prstGeom prst="rect">
            <a:avLst/>
          </a:prstGeom>
          <a:solidFill>
            <a:srgbClr val="141D35"/>
          </a:solidFill>
          <a:ln w="12700">
            <a:solidFill>
              <a:srgbClr val="141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2004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Monolítico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Videojuego Online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4389120"/>
            <a:ext cx="1371600" cy="256032"/>
          </a:xfrm>
          <a:prstGeom prst="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389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 / 4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2976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buscamos resolver?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0" y="5669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sistema de videojuegos online requiere alta disponibilidad,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escalabilidad y rendimiento que los sistemas monolíticos no pueden ofrecer.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51960" y="1234440"/>
            <a:ext cx="1463040" cy="1280160"/>
          </a:xfrm>
          <a:prstGeom prst="rect">
            <a:avLst/>
          </a:prstGeom>
          <a:solidFill>
            <a:srgbClr val="1A244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441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5112" y="169164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25112" y="1947672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Todo el sistema debe escalar aunque solo un módulo tenga alta demanda.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806440" y="1234440"/>
            <a:ext cx="1463040" cy="1280160"/>
          </a:xfrm>
          <a:prstGeom prst="rect">
            <a:avLst/>
          </a:prstGeom>
          <a:solidFill>
            <a:srgbClr val="1A2444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344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79592" y="169164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879592" y="1947672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cambio en cualquier parte afecta a todo el sistema, con alto riesgo de fallo.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360920" y="1234440"/>
            <a:ext cx="1463040" cy="1280160"/>
          </a:xfrm>
          <a:prstGeom prst="rect">
            <a:avLst/>
          </a:prstGeom>
          <a:solidFill>
            <a:srgbClr val="1A2444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34416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169164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434072" y="1947672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cuello de botella en una función degrada la experiencia de todos.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029200" y="2633472"/>
            <a:ext cx="1463040" cy="1280160"/>
          </a:xfrm>
          <a:prstGeom prst="rect">
            <a:avLst/>
          </a:prstGeom>
          <a:solidFill>
            <a:srgbClr val="1A2444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274320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2352" y="309067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usuarios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102352" y="3346704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tráfico masivo de jugadores simultáneos colapsa un sistema centralizado.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583680" y="2633472"/>
            <a:ext cx="1463040" cy="1280160"/>
          </a:xfrm>
          <a:prstGeom prst="rect">
            <a:avLst/>
          </a:prstGeom>
          <a:solidFill>
            <a:srgbClr val="1A244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74320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56832" y="3090672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6656832" y="3346704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Actualizar una feature requiere redesplegar toda la aplicación.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297680" y="4041648"/>
            <a:ext cx="1325880" cy="2286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297680" y="404164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5715000" y="4041648"/>
            <a:ext cx="1325880" cy="2286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715000" y="404164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7132320" y="4041648"/>
            <a:ext cx="1325880" cy="2286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132320" y="404164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8549640" y="4041648"/>
            <a:ext cx="1325880" cy="228600"/>
          </a:xfrm>
          <a:prstGeom prst="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549640" y="404164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Videojuegos Online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645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Microservicios con Spring Boot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servicio independiente, escalable y con su propia base de datos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3749040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5448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4630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usuario-service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536192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0" y="146304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bd_usuarios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1847088"/>
            <a:ext cx="3749040" cy="329184"/>
          </a:xfrm>
          <a:prstGeom prst="rect">
            <a:avLst/>
          </a:prstGeom>
          <a:solidFill>
            <a:srgbClr val="F5F3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1938528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" y="18470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personaje-service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92024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184708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personaje_db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274320" y="2231136"/>
            <a:ext cx="3749040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5760" y="2322576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5216" y="22311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arma-service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304288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743200" y="223113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arma_db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74320" y="2615184"/>
            <a:ext cx="3749040" cy="329184"/>
          </a:xfrm>
          <a:prstGeom prst="rect">
            <a:avLst/>
          </a:prstGeom>
          <a:solidFill>
            <a:srgbClr val="F5F3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5760" y="270662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85216" y="26151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tienda-service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2688336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743200" y="261518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tienda_db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274320" y="2999232"/>
            <a:ext cx="3749040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65760" y="309067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85216" y="29992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pago-service</a:t>
            </a:r>
            <a:endParaRPr lang="en-US" sz="9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3072384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743200" y="29992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pago_db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274320" y="3383280"/>
            <a:ext cx="3749040" cy="329184"/>
          </a:xfrm>
          <a:prstGeom prst="rect">
            <a:avLst/>
          </a:prstGeom>
          <a:solidFill>
            <a:srgbClr val="F5F3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65760" y="3474720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85216" y="33832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inventario-service</a:t>
            </a:r>
            <a:endParaRPr lang="en-US" sz="9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3456432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743200" y="33832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inventario_db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274320" y="3767328"/>
            <a:ext cx="3749040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65760" y="38587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85216" y="3767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mision-service</a:t>
            </a:r>
            <a:endParaRPr lang="en-US" sz="95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840480"/>
            <a:ext cx="182880" cy="18288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743200" y="376732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mision_db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274320" y="4151376"/>
            <a:ext cx="3749040" cy="329184"/>
          </a:xfrm>
          <a:prstGeom prst="rect">
            <a:avLst/>
          </a:prstGeom>
          <a:solidFill>
            <a:srgbClr val="F5F3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365760" y="424281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585216" y="41513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ranking-service</a:t>
            </a:r>
            <a:endParaRPr lang="en-US" sz="95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4224528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2743200" y="415137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ranking_db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274320" y="4535424"/>
            <a:ext cx="3749040" cy="329184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365760" y="462686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585216" y="45354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combate-service</a:t>
            </a:r>
            <a:endParaRPr lang="en-US" sz="95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4608576"/>
            <a:ext cx="182880" cy="18288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2743200" y="45354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combate_db</a:t>
            </a:r>
            <a:endParaRPr lang="en-US" sz="800" dirty="0"/>
          </a:p>
        </p:txBody>
      </p:sp>
      <p:sp>
        <p:nvSpPr>
          <p:cNvPr id="55" name="Text 44"/>
          <p:cNvSpPr/>
          <p:nvPr/>
        </p:nvSpPr>
        <p:spPr>
          <a:xfrm>
            <a:off x="429768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4297680" y="1481328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4297680" y="1481328"/>
            <a:ext cx="5486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4434840" y="14813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59" name="Text 48"/>
          <p:cNvSpPr/>
          <p:nvPr/>
        </p:nvSpPr>
        <p:spPr>
          <a:xfrm>
            <a:off x="5943600" y="148132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Framework principal para cada microservicio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4297680" y="1874520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4297680" y="1874520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4434840" y="18745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950" dirty="0"/>
          </a:p>
        </p:txBody>
      </p:sp>
      <p:sp>
        <p:nvSpPr>
          <p:cNvPr id="63" name="Text 52"/>
          <p:cNvSpPr/>
          <p:nvPr/>
        </p:nvSpPr>
        <p:spPr>
          <a:xfrm>
            <a:off x="5943600" y="18745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Infraestructura cloud-native y resiliencia</a:t>
            </a:r>
            <a:endParaRPr lang="en-US" sz="850" dirty="0"/>
          </a:p>
        </p:txBody>
      </p:sp>
      <p:sp>
        <p:nvSpPr>
          <p:cNvPr id="64" name="Shape 53"/>
          <p:cNvSpPr/>
          <p:nvPr/>
        </p:nvSpPr>
        <p:spPr>
          <a:xfrm>
            <a:off x="4297680" y="2267712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5" name="Shape 54"/>
          <p:cNvSpPr/>
          <p:nvPr/>
        </p:nvSpPr>
        <p:spPr>
          <a:xfrm>
            <a:off x="4297680" y="2267712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4434840" y="22677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950" dirty="0"/>
          </a:p>
        </p:txBody>
      </p:sp>
      <p:sp>
        <p:nvSpPr>
          <p:cNvPr id="67" name="Text 56"/>
          <p:cNvSpPr/>
          <p:nvPr/>
        </p:nvSpPr>
        <p:spPr>
          <a:xfrm>
            <a:off x="5943600" y="22677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Registro y descubrimiento de servicios</a:t>
            </a:r>
            <a:endParaRPr lang="en-US" sz="850" dirty="0"/>
          </a:p>
        </p:txBody>
      </p:sp>
      <p:sp>
        <p:nvSpPr>
          <p:cNvPr id="68" name="Shape 57"/>
          <p:cNvSpPr/>
          <p:nvPr/>
        </p:nvSpPr>
        <p:spPr>
          <a:xfrm>
            <a:off x="4297680" y="2660904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9" name="Shape 58"/>
          <p:cNvSpPr/>
          <p:nvPr/>
        </p:nvSpPr>
        <p:spPr>
          <a:xfrm>
            <a:off x="4297680" y="2660904"/>
            <a:ext cx="5486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4434840" y="266090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71" name="Text 60"/>
          <p:cNvSpPr/>
          <p:nvPr/>
        </p:nvSpPr>
        <p:spPr>
          <a:xfrm>
            <a:off x="5943600" y="266090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Punto de entrada único del sistema</a:t>
            </a:r>
            <a:endParaRPr lang="en-US" sz="850" dirty="0"/>
          </a:p>
        </p:txBody>
      </p:sp>
      <p:sp>
        <p:nvSpPr>
          <p:cNvPr id="72" name="Shape 61"/>
          <p:cNvSpPr/>
          <p:nvPr/>
        </p:nvSpPr>
        <p:spPr>
          <a:xfrm>
            <a:off x="4297680" y="3054096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73" name="Shape 62"/>
          <p:cNvSpPr/>
          <p:nvPr/>
        </p:nvSpPr>
        <p:spPr>
          <a:xfrm>
            <a:off x="4297680" y="3054096"/>
            <a:ext cx="54864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4434840" y="305409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</a:t>
            </a:r>
            <a:endParaRPr lang="en-US" sz="950" dirty="0"/>
          </a:p>
        </p:txBody>
      </p:sp>
      <p:sp>
        <p:nvSpPr>
          <p:cNvPr id="75" name="Text 64"/>
          <p:cNvSpPr/>
          <p:nvPr/>
        </p:nvSpPr>
        <p:spPr>
          <a:xfrm>
            <a:off x="5943600" y="30540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Comunicación síncrona entre servicios</a:t>
            </a:r>
            <a:endParaRPr lang="en-US" sz="850" dirty="0"/>
          </a:p>
        </p:txBody>
      </p:sp>
      <p:sp>
        <p:nvSpPr>
          <p:cNvPr id="76" name="Shape 65"/>
          <p:cNvSpPr/>
          <p:nvPr/>
        </p:nvSpPr>
        <p:spPr>
          <a:xfrm>
            <a:off x="4297680" y="3447288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297680" y="3447288"/>
            <a:ext cx="5486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8" name="Text 67"/>
          <p:cNvSpPr/>
          <p:nvPr/>
        </p:nvSpPr>
        <p:spPr>
          <a:xfrm>
            <a:off x="4434840" y="34472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Flyway</a:t>
            </a:r>
            <a:endParaRPr lang="en-US" sz="950" dirty="0"/>
          </a:p>
        </p:txBody>
      </p:sp>
      <p:sp>
        <p:nvSpPr>
          <p:cNvPr id="79" name="Text 68"/>
          <p:cNvSpPr/>
          <p:nvPr/>
        </p:nvSpPr>
        <p:spPr>
          <a:xfrm>
            <a:off x="5943600" y="34472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 de datos + migraciones controladas</a:t>
            </a:r>
            <a:endParaRPr lang="en-US" sz="850" dirty="0"/>
          </a:p>
        </p:txBody>
      </p:sp>
      <p:sp>
        <p:nvSpPr>
          <p:cNvPr id="80" name="Shape 69"/>
          <p:cNvSpPr/>
          <p:nvPr/>
        </p:nvSpPr>
        <p:spPr>
          <a:xfrm>
            <a:off x="4297680" y="3840480"/>
            <a:ext cx="4663440" cy="329184"/>
          </a:xfrm>
          <a:prstGeom prst="rect">
            <a:avLst/>
          </a:prstGeom>
          <a:solidFill>
            <a:srgbClr val="FAFB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4297680" y="3840480"/>
            <a:ext cx="548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Text 71"/>
          <p:cNvSpPr/>
          <p:nvPr/>
        </p:nvSpPr>
        <p:spPr>
          <a:xfrm>
            <a:off x="4434840" y="38404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+ MapStruct</a:t>
            </a:r>
            <a:endParaRPr lang="en-US" sz="950" dirty="0"/>
          </a:p>
        </p:txBody>
      </p:sp>
      <p:sp>
        <p:nvSpPr>
          <p:cNvPr id="83" name="Text 72"/>
          <p:cNvSpPr/>
          <p:nvPr/>
        </p:nvSpPr>
        <p:spPr>
          <a:xfrm>
            <a:off x="5943600" y="38404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Transferencia segura de datos</a:t>
            </a:r>
            <a:endParaRPr lang="en-US" sz="850" dirty="0"/>
          </a:p>
        </p:txBody>
      </p:sp>
      <p:sp>
        <p:nvSpPr>
          <p:cNvPr id="84" name="Shape 7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718304"/>
            <a:ext cx="228600" cy="228600"/>
          </a:xfrm>
          <a:prstGeom prst="rect">
            <a:avLst/>
          </a:prstGeom>
        </p:spPr>
      </p:pic>
      <p:sp>
        <p:nvSpPr>
          <p:cNvPr id="86" name="Text 74"/>
          <p:cNvSpPr/>
          <p:nvPr/>
        </p:nvSpPr>
        <p:spPr>
          <a:xfrm>
            <a:off x="713232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microservicio: Controller → Service → Repository → Base de Datos independiente | Comunicación vía OpenFeign (síncrona)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68680"/>
          </a:xfrm>
          <a:prstGeom prst="rect">
            <a:avLst/>
          </a:prstGeom>
          <a:solidFill>
            <a:srgbClr val="141D35"/>
          </a:solidFill>
          <a:ln w="12700">
            <a:solidFill>
              <a:srgbClr val="141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MICROSERVICIOS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5212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Cómo se comunican y coordinan los servicios del sistema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0" y="228600"/>
            <a:ext cx="8229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051560"/>
            <a:ext cx="1280160" cy="457200"/>
          </a:xfrm>
          <a:prstGeom prst="rect">
            <a:avLst/>
          </a:prstGeom>
          <a:solidFill>
            <a:srgbClr val="1E3A5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Cliente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/ Postman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0" cy="22860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solidFill>
            <a:srgbClr val="2D1B6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API Gateway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423160"/>
            <a:ext cx="1280160" cy="457200"/>
          </a:xfrm>
          <a:prstGeom prst="rect">
            <a:avLst/>
          </a:prstGeom>
          <a:solidFill>
            <a:srgbClr val="1A2A1A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Eureka 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2423160"/>
            <a:ext cx="1463040" cy="457200"/>
          </a:xfrm>
          <a:prstGeom prst="rect">
            <a:avLst/>
          </a:prstGeom>
          <a:solidFill>
            <a:srgbClr val="1A1A2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Config 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central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21945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44368"/>
            <a:ext cx="1188720" cy="502920"/>
          </a:xfrm>
          <a:prstGeom prst="rect">
            <a:avLst/>
          </a:prstGeom>
          <a:solidFill>
            <a:srgbClr val="1A2444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44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" y="3447288"/>
            <a:ext cx="0" cy="1828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30168"/>
            <a:ext cx="1188720" cy="384048"/>
          </a:xfrm>
          <a:prstGeom prst="rect">
            <a:avLst/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30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33472" y="21945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39112" y="2944368"/>
            <a:ext cx="1188720" cy="502920"/>
          </a:xfrm>
          <a:prstGeom prst="rect">
            <a:avLst/>
          </a:prstGeom>
          <a:solidFill>
            <a:srgbClr val="1A2444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2944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33472" y="3447288"/>
            <a:ext cx="0" cy="18288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39112" y="3630168"/>
            <a:ext cx="1188720" cy="384048"/>
          </a:xfrm>
          <a:prstGeom prst="rect">
            <a:avLst/>
          </a:prstGeom>
          <a:solidFill>
            <a:srgbClr val="0A1628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39112" y="3630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52544" y="21945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58184" y="2944368"/>
            <a:ext cx="1188720" cy="502920"/>
          </a:xfrm>
          <a:prstGeom prst="rect">
            <a:avLst/>
          </a:prstGeom>
          <a:solidFill>
            <a:srgbClr val="1A244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58184" y="2944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52544" y="3447288"/>
            <a:ext cx="0" cy="18288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58184" y="3630168"/>
            <a:ext cx="1188720" cy="384048"/>
          </a:xfrm>
          <a:prstGeom prst="rect">
            <a:avLst/>
          </a:prstGeom>
          <a:solidFill>
            <a:srgbClr val="0A16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8184" y="3630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71616" y="21945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77256" y="2944368"/>
            <a:ext cx="1188720" cy="502920"/>
          </a:xfrm>
          <a:prstGeom prst="rect">
            <a:avLst/>
          </a:prstGeom>
          <a:solidFill>
            <a:srgbClr val="1A2444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77256" y="2944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71616" y="3447288"/>
            <a:ext cx="0" cy="18288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77256" y="3630168"/>
            <a:ext cx="1188720" cy="384048"/>
          </a:xfrm>
          <a:prstGeom prst="rect">
            <a:avLst/>
          </a:prstGeom>
          <a:solidFill>
            <a:srgbClr val="0A162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77256" y="3630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90688" y="219456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96328" y="2944368"/>
            <a:ext cx="1188720" cy="502920"/>
          </a:xfrm>
          <a:prstGeom prst="rect">
            <a:avLst/>
          </a:prstGeom>
          <a:solidFill>
            <a:srgbClr val="1A2444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96328" y="2944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90688" y="3447288"/>
            <a:ext cx="0" cy="1828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96328" y="3630168"/>
            <a:ext cx="1188720" cy="384048"/>
          </a:xfrm>
          <a:prstGeom prst="rect">
            <a:avLst/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3630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DB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3200400"/>
            <a:ext cx="8503920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760720" y="3063240"/>
            <a:ext cx="2560320" cy="274320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 — Comunicación síncrona entre servicios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4133088"/>
            <a:ext cx="2743200" cy="804672"/>
          </a:xfrm>
          <a:prstGeom prst="rect">
            <a:avLst/>
          </a:prstGeom>
          <a:solidFill>
            <a:srgbClr val="14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4133088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206240"/>
            <a:ext cx="256032" cy="256032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68580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OpenFeign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36576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Llamadas síncronas HTTP entre microservicios de forma declarativa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3200400" y="4133088"/>
            <a:ext cx="2743200" cy="804672"/>
          </a:xfrm>
          <a:prstGeom prst="rect">
            <a:avLst/>
          </a:prstGeom>
          <a:solidFill>
            <a:srgbClr val="14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200400" y="4133088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206240"/>
            <a:ext cx="256032" cy="256032"/>
          </a:xfrm>
          <a:prstGeom prst="rect">
            <a:avLst/>
          </a:prstGeom>
        </p:spPr>
      </p:pic>
      <p:sp>
        <p:nvSpPr>
          <p:cNvPr id="60" name="Text 56"/>
          <p:cNvSpPr/>
          <p:nvPr/>
        </p:nvSpPr>
        <p:spPr>
          <a:xfrm>
            <a:off x="361188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+ Gateway</a:t>
            </a:r>
            <a:endParaRPr lang="en-US" sz="950" dirty="0"/>
          </a:p>
        </p:txBody>
      </p:sp>
      <p:sp>
        <p:nvSpPr>
          <p:cNvPr id="61" name="Text 57"/>
          <p:cNvSpPr/>
          <p:nvPr/>
        </p:nvSpPr>
        <p:spPr>
          <a:xfrm>
            <a:off x="329184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Registro automático y enrutamiento inteligente de peticiones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6126480" y="4133088"/>
            <a:ext cx="2743200" cy="804672"/>
          </a:xfrm>
          <a:prstGeom prst="rect">
            <a:avLst/>
          </a:prstGeom>
          <a:solidFill>
            <a:srgbClr val="14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6126480" y="4133088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06240"/>
            <a:ext cx="256032" cy="25603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6537960" y="4187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621792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Configuración centralizada y externalizada para todos los servicios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40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" y="1783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8288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de Videojuegos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Online — Microservicios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64592" y="3383280"/>
            <a:ext cx="3154680" cy="1188720"/>
          </a:xfrm>
          <a:prstGeom prst="rect">
            <a:avLst/>
          </a:prstGeom>
          <a:solidFill>
            <a:srgbClr val="0A33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3456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" y="371246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F3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arquitectura de microservicios transforma el sistema de videojuegos en una plataforma robusta, flexible y preparada para crecer.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046720" y="182880"/>
            <a:ext cx="822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182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03320" y="164592"/>
            <a:ext cx="2606040" cy="1188720"/>
          </a:xfrm>
          <a:prstGeom prst="rect">
            <a:avLst/>
          </a:prstGeom>
          <a:solidFill>
            <a:srgbClr val="141D35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03320" y="164592"/>
            <a:ext cx="26060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2918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51960" y="2743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840480" y="75895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servicio escala de forma independiente según la demanda real.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446520" y="164592"/>
            <a:ext cx="2606040" cy="1188720"/>
          </a:xfrm>
          <a:prstGeom prst="rect">
            <a:avLst/>
          </a:prstGeom>
          <a:solidFill>
            <a:srgbClr val="141D35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46520" y="164592"/>
            <a:ext cx="26060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918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95160" y="2743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Independiente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583680" y="75895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equipos pueden actualizar servicios sin afectar a los demás.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703320" y="1490472"/>
            <a:ext cx="2606040" cy="1188720"/>
          </a:xfrm>
          <a:prstGeom prst="rect">
            <a:avLst/>
          </a:prstGeom>
          <a:solidFill>
            <a:srgbClr val="141D35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703320" y="1490472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65506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251960" y="160020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840480" y="208483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fallo en un servicio no colapsa todo el sistema.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446520" y="1490472"/>
            <a:ext cx="2606040" cy="1188720"/>
          </a:xfrm>
          <a:prstGeom prst="rect">
            <a:avLst/>
          </a:prstGeom>
          <a:solidFill>
            <a:srgbClr val="141D35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46520" y="1490472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65506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95160" y="160020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Rendimiento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583680" y="208483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Recursos optimizados solo donde se necesita mayor capacidad.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3703320" y="2816352"/>
            <a:ext cx="2606040" cy="1188720"/>
          </a:xfrm>
          <a:prstGeom prst="rect">
            <a:avLst/>
          </a:prstGeom>
          <a:solidFill>
            <a:srgbClr val="141D35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703320" y="2816352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2980944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51960" y="292608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Tecnológica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840480" y="341071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servicio puede usar la tecnología más adecuada para su tarea.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6446520" y="2816352"/>
            <a:ext cx="2606040" cy="1188720"/>
          </a:xfrm>
          <a:prstGeom prst="rect">
            <a:avLst/>
          </a:prstGeom>
          <a:solidFill>
            <a:srgbClr val="141D35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46520" y="2816352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980944"/>
            <a:ext cx="347472" cy="34747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995160" y="292608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Continuo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6583680" y="3410712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CI/CD por servicio: releases rápidos, seguros e independientes.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Videojuegos Online - Arquitectura de Microservicios</dc:title>
  <dc:subject>PptxGenJS Presentation</dc:subject>
  <dc:creator>PptxGenJS</dc:creator>
  <cp:lastModifiedBy>PptxGenJS</cp:lastModifiedBy>
  <cp:revision>1</cp:revision>
  <dcterms:created xsi:type="dcterms:W3CDTF">2026-05-22T07:46:34Z</dcterms:created>
  <dcterms:modified xsi:type="dcterms:W3CDTF">2026-05-22T07:46:34Z</dcterms:modified>
</cp:coreProperties>
</file>